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0ef5c405e149e5" /><Relationship Type="http://schemas.openxmlformats.org/officeDocument/2006/relationships/extended-properties" Target="/docProps/app.xml" Id="Rf85e04819b974c1c" /><Relationship Type="http://schemas.openxmlformats.org/officeDocument/2006/relationships/officeDocument" Target="/ppt/presentation.xml" Id="R99de1ba0e6b14d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147f934e394176"/>
  </p:sldMasterIdLst>
  <p:notesMasterIdLst>
    <p:notesMasterId xmlns:r="http://schemas.openxmlformats.org/officeDocument/2006/relationships" r:id="R554e30fa4d1d47ea"/>
  </p:notesMasterIdLst>
  <p:sldIdLst>
    <p:sldId xmlns:r="http://schemas.openxmlformats.org/officeDocument/2006/relationships" id="256" r:id="R3f7eadfead2e410f"/>
    <p:sldId xmlns:r="http://schemas.openxmlformats.org/officeDocument/2006/relationships" id="257" r:id="R67ae391a607d49e1"/>
    <p:sldId xmlns:r="http://schemas.openxmlformats.org/officeDocument/2006/relationships" id="258" r:id="R09c991bf26bd428d"/>
    <p:sldId xmlns:r="http://schemas.openxmlformats.org/officeDocument/2006/relationships" id="259" r:id="Rfd8a51b8e55143da"/>
    <p:sldId xmlns:r="http://schemas.openxmlformats.org/officeDocument/2006/relationships" id="260" r:id="R3644397cbb454b4a"/>
    <p:sldId xmlns:r="http://schemas.openxmlformats.org/officeDocument/2006/relationships" id="261" r:id="Rc17c640f6ef648bb"/>
    <p:sldId xmlns:r="http://schemas.openxmlformats.org/officeDocument/2006/relationships" id="262" r:id="Rb91a346705084d2a"/>
    <p:sldId xmlns:r="http://schemas.openxmlformats.org/officeDocument/2006/relationships" id="263" r:id="Ra2a960b2e5be4848"/>
    <p:sldId xmlns:r="http://schemas.openxmlformats.org/officeDocument/2006/relationships" id="264" r:id="Rdac9bf75af694b78"/>
    <p:sldId xmlns:r="http://schemas.openxmlformats.org/officeDocument/2006/relationships" id="265" r:id="Rbd53f14303444bfd"/>
    <p:sldId xmlns:r="http://schemas.openxmlformats.org/officeDocument/2006/relationships" id="266" r:id="Rab2c5035dd084da5"/>
    <p:sldId xmlns:r="http://schemas.openxmlformats.org/officeDocument/2006/relationships" id="267" r:id="Rb2066e41bd424952"/>
    <p:sldId xmlns:r="http://schemas.openxmlformats.org/officeDocument/2006/relationships" id="268" r:id="R5f4808d581484d45"/>
    <p:sldId xmlns:r="http://schemas.openxmlformats.org/officeDocument/2006/relationships" id="269" r:id="Rcd232287b89e48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c126d7b0864c93" /><Relationship Type="http://schemas.openxmlformats.org/officeDocument/2006/relationships/slideMaster" Target="/ppt/slideMasters/slideMaster1.xml" Id="R3f147f934e394176" /><Relationship Type="http://schemas.openxmlformats.org/officeDocument/2006/relationships/notesMaster" Target="/ppt/notesMasters/notesMaster1.xml" Id="R554e30fa4d1d47ea" /><Relationship Type="http://schemas.openxmlformats.org/officeDocument/2006/relationships/presProps" Target="/ppt/presProps.xml" Id="Rbbd563eac2e84cb2" /><Relationship Type="http://schemas.openxmlformats.org/officeDocument/2006/relationships/tableStyles" Target="/ppt/tableStyles.xml" Id="Rd58221d06b2e406b" /><Relationship Type="http://schemas.openxmlformats.org/officeDocument/2006/relationships/slide" Target="/ppt/slides/slide1.xml" Id="R3f7eadfead2e410f" /><Relationship Type="http://schemas.openxmlformats.org/officeDocument/2006/relationships/slide" Target="/ppt/slides/slide2.xml" Id="R67ae391a607d49e1" /><Relationship Type="http://schemas.openxmlformats.org/officeDocument/2006/relationships/slide" Target="/ppt/slides/slide3.xml" Id="R09c991bf26bd428d" /><Relationship Type="http://schemas.openxmlformats.org/officeDocument/2006/relationships/slide" Target="/ppt/slides/slide4.xml" Id="Rfd8a51b8e55143da" /><Relationship Type="http://schemas.openxmlformats.org/officeDocument/2006/relationships/slide" Target="/ppt/slides/slide5.xml" Id="R3644397cbb454b4a" /><Relationship Type="http://schemas.openxmlformats.org/officeDocument/2006/relationships/slide" Target="/ppt/slides/slide6.xml" Id="Rc17c640f6ef648bb" /><Relationship Type="http://schemas.openxmlformats.org/officeDocument/2006/relationships/slide" Target="/ppt/slides/slide7.xml" Id="Rb91a346705084d2a" /><Relationship Type="http://schemas.openxmlformats.org/officeDocument/2006/relationships/slide" Target="/ppt/slides/slide8.xml" Id="Ra2a960b2e5be4848" /><Relationship Type="http://schemas.openxmlformats.org/officeDocument/2006/relationships/slide" Target="/ppt/slides/slide9.xml" Id="Rdac9bf75af694b78" /><Relationship Type="http://schemas.openxmlformats.org/officeDocument/2006/relationships/slide" Target="/ppt/slides/slide10.xml" Id="Rbd53f14303444bfd" /><Relationship Type="http://schemas.openxmlformats.org/officeDocument/2006/relationships/slide" Target="/ppt/slides/slide11.xml" Id="Rab2c5035dd084da5" /><Relationship Type="http://schemas.openxmlformats.org/officeDocument/2006/relationships/slide" Target="/ppt/slides/slide12.xml" Id="Rb2066e41bd424952" /><Relationship Type="http://schemas.openxmlformats.org/officeDocument/2006/relationships/slide" Target="/ppt/slides/slide13.xml" Id="R5f4808d581484d45" /><Relationship Type="http://schemas.openxmlformats.org/officeDocument/2006/relationships/slide" Target="/ppt/slides/slide14.xml" Id="Rcd232287b89e48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0e6ed03d7c45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8129dd63f740aa" /><Relationship Type="http://schemas.openxmlformats.org/officeDocument/2006/relationships/notesMaster" Target="/ppt/notesMasters/notesMaster1.xml" Id="R772e0e4fc7e345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787cd4c9f44344" /><Relationship Type="http://schemas.openxmlformats.org/officeDocument/2006/relationships/notesMaster" Target="/ppt/notesMasters/notesMaster1.xml" Id="Rc03c3e3d52694e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e25ae7cd0c4652" /><Relationship Type="http://schemas.openxmlformats.org/officeDocument/2006/relationships/notesMaster" Target="/ppt/notesMasters/notesMaster1.xml" Id="Rd4392113bbc24e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13ab118eb94791" /><Relationship Type="http://schemas.openxmlformats.org/officeDocument/2006/relationships/notesMaster" Target="/ppt/notesMasters/notesMaster1.xml" Id="R69ede4ba63894e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083eb125914f9f" /><Relationship Type="http://schemas.openxmlformats.org/officeDocument/2006/relationships/notesMaster" Target="/ppt/notesMasters/notesMaster1.xml" Id="Rf36da493b52247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30a29bcef94b41" /><Relationship Type="http://schemas.openxmlformats.org/officeDocument/2006/relationships/notesMaster" Target="/ppt/notesMasters/notesMaster1.xml" Id="R278eafad503948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f28d9720d24c77" /><Relationship Type="http://schemas.openxmlformats.org/officeDocument/2006/relationships/notesMaster" Target="/ppt/notesMasters/notesMaster1.xml" Id="R51611f27c8ec41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9cc07acc614f4e" /><Relationship Type="http://schemas.openxmlformats.org/officeDocument/2006/relationships/notesMaster" Target="/ppt/notesMasters/notesMaster1.xml" Id="R1e137d2e0cbb43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2ee77ba91b4f8f" /><Relationship Type="http://schemas.openxmlformats.org/officeDocument/2006/relationships/notesMaster" Target="/ppt/notesMasters/notesMaster1.xml" Id="R85d66dd1bfdb41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c51183f9c9417b" /><Relationship Type="http://schemas.openxmlformats.org/officeDocument/2006/relationships/notesMaster" Target="/ppt/notesMasters/notesMaster1.xml" Id="R291770b8827a46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ab9631fbdc4901" /><Relationship Type="http://schemas.openxmlformats.org/officeDocument/2006/relationships/notesMaster" Target="/ppt/notesMasters/notesMaster1.xml" Id="R678cefad97974f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e4061475e44a85" /><Relationship Type="http://schemas.openxmlformats.org/officeDocument/2006/relationships/notesMaster" Target="/ppt/notesMasters/notesMaster1.xml" Id="Ra07ac86c102943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cedb7b04094f5c" /><Relationship Type="http://schemas.openxmlformats.org/officeDocument/2006/relationships/notesMaster" Target="/ppt/notesMasters/notesMaster1.xml" Id="Ra83009cd656641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426423d737471c" /><Relationship Type="http://schemas.openxmlformats.org/officeDocument/2006/relationships/notesMaster" Target="/ppt/notesMasters/notesMaster1.xml" Id="R87b2f1648af84a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e451a8cbf4d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9250ef78b748e0" /><Relationship Type="http://schemas.openxmlformats.org/officeDocument/2006/relationships/slideLayout" Target="/ppt/slideLayouts/slideLayout1.xml" Id="R6a7afeba81d34d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7afeba81d34d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1405154e84006" /><Relationship Type="http://schemas.openxmlformats.org/officeDocument/2006/relationships/image" Target="/ppt/media/image.jpeg" Id="R6168783d0e6b4b7b" /><Relationship Type="http://schemas.openxmlformats.org/officeDocument/2006/relationships/notesSlide" Target="/ppt/notesSlides/notesSlide1.xml" Id="R5fb2b64cb3624b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7fe661a234ac8" /><Relationship Type="http://schemas.openxmlformats.org/officeDocument/2006/relationships/image" Target="/ppt/media/image2.jpeg" Id="R52221971d8e14f99" /><Relationship Type="http://schemas.openxmlformats.org/officeDocument/2006/relationships/notesSlide" Target="/ppt/notesSlides/notesSlide2.xml" Id="Reb5860db47fc4a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072c21c294c65" /><Relationship Type="http://schemas.openxmlformats.org/officeDocument/2006/relationships/notesSlide" Target="/ppt/notesSlides/notesSlide3.xml" Id="Rdf47fdfa9de445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8dd55f4c8438a" /><Relationship Type="http://schemas.openxmlformats.org/officeDocument/2006/relationships/notesSlide" Target="/ppt/notesSlides/notesSlide4.xml" Id="R5cd7bbf96bc94c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21ee6eb43458a" /><Relationship Type="http://schemas.openxmlformats.org/officeDocument/2006/relationships/notesSlide" Target="/ppt/notesSlides/notesSlide5.xml" Id="R47b1e79da43147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378e4da7a44b7" /><Relationship Type="http://schemas.openxmlformats.org/officeDocument/2006/relationships/image" Target="/ppt/media/image3.jpeg" Id="Rb51046cd731a4754" /><Relationship Type="http://schemas.openxmlformats.org/officeDocument/2006/relationships/image" Target="/ppt/media/image4.jpeg" Id="R902705da0b5c45c2" /><Relationship Type="http://schemas.openxmlformats.org/officeDocument/2006/relationships/notesSlide" Target="/ppt/notesSlides/notesSlide6.xml" Id="R13aab04a26ee42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56ee833fd4c6c" /><Relationship Type="http://schemas.openxmlformats.org/officeDocument/2006/relationships/image" Target="/ppt/media/image5.jpeg" Id="Re30210289fbe4d0c" /><Relationship Type="http://schemas.openxmlformats.org/officeDocument/2006/relationships/notesSlide" Target="/ppt/notesSlides/notesSlide7.xml" Id="R7795c3c4798348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86e8ef4e4405c" /><Relationship Type="http://schemas.openxmlformats.org/officeDocument/2006/relationships/notesSlide" Target="/ppt/notesSlides/notesSlide8.xml" Id="R8044c7cb063146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9cf0922564682" /><Relationship Type="http://schemas.openxmlformats.org/officeDocument/2006/relationships/notesSlide" Target="/ppt/notesSlides/notesSlide9.xml" Id="R392fad5ded7347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f3a42aff64ed9" /><Relationship Type="http://schemas.openxmlformats.org/officeDocument/2006/relationships/notesSlide" Target="/ppt/notesSlides/notesSlide10.xml" Id="Rdb019aae42034a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7da6dcf004dc1" /><Relationship Type="http://schemas.openxmlformats.org/officeDocument/2006/relationships/notesSlide" Target="/ppt/notesSlides/notesSlide11.xml" Id="R1ef2debe42d84d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58b6e7fed49fd" /><Relationship Type="http://schemas.openxmlformats.org/officeDocument/2006/relationships/notesSlide" Target="/ppt/notesSlides/notesSlide12.xml" Id="R724a4d04b50c49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17623ac5a4df8" /><Relationship Type="http://schemas.openxmlformats.org/officeDocument/2006/relationships/notesSlide" Target="/ppt/notesSlides/notesSlide13.xml" Id="Rbcb10743aa9647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78d1161fc4be3" /><Relationship Type="http://schemas.openxmlformats.org/officeDocument/2006/relationships/image" Target="/ppt/media/image6.jpeg" Id="R4778d2b5d5f744b3" /><Relationship Type="http://schemas.openxmlformats.org/officeDocument/2006/relationships/notesSlide" Target="/ppt/notesSlides/notesSlide14.xml" Id="Rb01b600dd00844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0A17C-7901-48DB-8203-14EF3C3B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514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KTA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07D1E-566A-412F-89FB-5E32BD09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Бесплатная образовательная платформа для подготовки к КТА в магистратуру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4CF7A-8D5A-4A71-A285-6F7881E5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575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Nuxt 3 + Spring Boot + PostgreSQL + AWS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A0AA5-8B81-491E-851D-D0E5C7A9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Проект: invest-gold.asia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B464F-DE33-4D3C-8A47-7B2C3DAD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"/>
            <a:ext cx="5638800" cy="5448300"/>
          </a:xfrm>
          <a:prstGeom xmlns:a="http://schemas.openxmlformats.org/drawingml/2006/main" prst="roundRect">
            <a:avLst>
              <a:gd name="adj" fmla="val 2098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8783d0e6b4b7b"/>
          <a:stretch xmlns:a="http://schemas.openxmlformats.org/drawingml/2006/main"/>
        </p:blipFill>
        <p:spPr>
          <a:xfrm xmlns:a="http://schemas.openxmlformats.org/drawingml/2006/main">
            <a:off x="6191250" y="1729978"/>
            <a:ext cx="5295900" cy="2978944"/>
          </a:xfrm>
          <a:prstGeom xmlns:a="http://schemas.openxmlformats.org/drawingml/2006/main" prst="roundRect">
            <a:avLst>
              <a:gd name="adj" fmla="val 223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CC326-A0A0-4F96-AAB7-830A399B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invest-gold.asia  /  1</a:t>
            </a:r>
          </a:p>
        </p:txBody>
      </p:sp>
    </p:spTree>
    <p:extLst>
      <p:ext uri="{BB962C8B-B14F-4D97-AF65-F5344CB8AC3E}">
        <p14:creationId xmlns:p14="http://schemas.microsoft.com/office/powerpoint/2010/main" val="597456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36245-382E-4631-9B9F-684762A6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ИДЕЯ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DDF41-9BE4-4BDE-A448-D7ADD13E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Платформа закрывает полный цикл подготовки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FB761-8ECB-46A9-AED6-01275383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invest-gold.asia  / 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2B149-F9B8-4914-BD97-72A1D6BE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28800"/>
            <a:ext cx="5048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Студент получает доступ к бесплатным курсам, урокам и тестам после регистрации. Учитель создает тесты без программирования, а админ управляет пользователями и контентом.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FDB96-C96D-4187-8DFF-D1DC2435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16192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D11C6-4DDC-4CE4-8F3C-BE06EABD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162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86995-92EA-400E-9399-E9132B65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курсов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FD59B-4D2E-4C6E-A123-36ED3540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14750"/>
            <a:ext cx="16192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CE8E5-F9E1-4A5D-B9E9-C8EA9D35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62400"/>
            <a:ext cx="1162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E4E5B-E946-45C2-9109-3BB4D571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482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уроков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E8D19-CFF5-4214-9D6D-83A75879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16192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C49AA-111F-44BA-AE67-FD62B2BC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62400"/>
            <a:ext cx="1162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A562E-896F-431F-B47F-8E180856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482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новых тестов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21971d8e14f99"/>
          <a:stretch xmlns:a="http://schemas.openxmlformats.org/drawingml/2006/main"/>
        </p:blipFill>
        <p:spPr>
          <a:xfrm xmlns:a="http://schemas.openxmlformats.org/drawingml/2006/main">
            <a:off x="6343650" y="2201466"/>
            <a:ext cx="5143500" cy="289321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</p:spTree>
    <p:extLst>
      <p:ext uri="{BB962C8B-B14F-4D97-AF65-F5344CB8AC3E}">
        <p14:creationId xmlns:p14="http://schemas.microsoft.com/office/powerpoint/2010/main" val="2529370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0A9E4-F1A1-43C3-9B5F-BF70836B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ТЕХНОЛОГИИ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2189D-D71D-4AF7-94BC-98740686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Сайт собран на современном full-stack стеке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90B0F-00CD-4E5F-8944-152C3F46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invest-gold.asia  / 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F5264-37AE-410F-90F2-D1270327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861D2-B921-4852-9C12-C950145C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Frontend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F8302-9A0E-4CCB-9342-29106062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Nuxt 3, Vue 3, TypeScript, Tailwind CSS, SSR для SEO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35466-EAFF-4463-85B4-DA138429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A37FC-4AD6-4206-A304-2B78EFF9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90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Backend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04D6E-0EC5-46D4-896C-039DAA10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670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Java 21, Spring Boot 3, Spring Security, JWT и cookie-session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CECEC-88DC-49A3-B220-6F7DBF93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DE8D5-4453-4973-8E9E-EFD3B5D6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Database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1C8D6-19E7-4D5A-922F-1485778A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PostgreSQL, Flyway migrations, Redis, реальные попытки и прогресс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41FF0-65AB-44DF-B809-BFF585D7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38600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C6C1C-1E53-40F7-A09D-B2246333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672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Deploy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98195-B9FE-41D6-99B8-77D928C9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434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Docker Compose, Caddy HTTPS, Terraform, AWS Ubuntu server</a:t>
            </a:r>
          </a:p>
        </p:txBody>
      </p:sp>
    </p:spTree>
    <p:extLst>
      <p:ext uri="{BB962C8B-B14F-4D97-AF65-F5344CB8AC3E}">
        <p14:creationId xmlns:p14="http://schemas.microsoft.com/office/powerpoint/2010/main" val="19515092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65F346-79E9-4186-8031-47ADCCD5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1A1D9-2ED6-416D-A8DC-35FFAE3D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1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Запрос проходит от браузера до базы через защищенный слой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C8DAA-538A-41AD-9ECA-2E35D6AD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invest-gold.asia  / 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0E9FE-27EB-4B4B-9D7C-28B0FEE1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61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18B98-DD92-4080-A91F-F796E18D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Пользователь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453A6-CC3C-451D-88C7-B211CBCE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71800"/>
            <a:ext cx="161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D78BA-4F65-4CC8-B8E6-36A95A71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3850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Caddy HTTPS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B1E10-7CFA-452C-A6B8-8E29302D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71800"/>
            <a:ext cx="161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866B5-C1EB-4CB1-82A7-3EBB523A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3850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Nuxt SSR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5848F-A228-451E-BC20-048EB15C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71800"/>
            <a:ext cx="161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0EB3C-4FFF-40C2-ACEB-8814E940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3850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Spring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B307F-C832-4E9E-A15E-281C5CD5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43150"/>
            <a:ext cx="161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7207F-E857-4E71-8755-957DFB28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0985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10712-47BD-4D6B-AA9A-06276A43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0450"/>
            <a:ext cx="161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E5851-4B7D-4BDA-B34A-D35DF1B3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6715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19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Redis / файлы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2228850" y="33813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CD4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4419600" y="33813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CD4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6610350" y="33813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CD4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8801100" y="30861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CD4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8801100" y="3714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CD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46717-6FCC-4178-A245-1222C6E0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API, авторизация, тесты, чат и прокторинг находятся на backend. Nuxt отдает SSR-страницы, поэтому поисковики видят основные страницы сайта.</a:t>
            </a:r>
          </a:p>
        </p:txBody>
      </p:sp>
    </p:spTree>
    <p:extLst>
      <p:ext uri="{BB962C8B-B14F-4D97-AF65-F5344CB8AC3E}">
        <p14:creationId xmlns:p14="http://schemas.microsoft.com/office/powerpoint/2010/main" val="17810144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19E403-3665-4655-AEF2-55323F04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КАК ДЕЛАЛСЯ САЙТ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FC6B3-E77D-4411-A84F-E5972574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Работа шла от ТЗ к живому деплою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528F2-CB07-430A-9E77-CB87581C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invest-gold.asia  /  5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704850" y="333375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CD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ADF41-301A-4653-8E3A-C77DA161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0F1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F9F08-5137-413E-B44E-44E35188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E0FD5-53AA-4521-BA97-42B4A7C5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ТЗ и роли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4566D-1017-409A-9C89-177B72F8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Гость, студент, учитель, админ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3D8E7-E150-43B0-A421-69363B96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43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0F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AD926-20F8-41E5-B513-088BB035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99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205A6-BF26-4B68-9CD1-2B580EB7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719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286A7-300D-47E3-A34F-65FC024E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910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Курсы, уроки, тесты, прогресс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F5B57-D22A-4378-926B-D0A96CE4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0F1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4CB79-4560-4884-8197-F217CFD5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099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78286-754F-4C53-8F3A-7D8D85AB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719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Frontend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142A4-6F31-4C35-9A64-7982D015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910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Nuxt-страницы, кабинеты, UX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8C4B6-21D2-4D90-A607-1F704886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0F1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41B25-8AC3-4E05-AFF7-F6F12FD5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099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D192B8-43D2-48EA-9C80-53A6DD16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719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Deploy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59C0DE-7B8E-4FEC-97B3-0FC7C2E3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AWS, Docker, HTTPS, домен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EBAA3C-60F8-4C4B-9546-4D22160B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0B0F1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337A8-217F-411F-893E-5A8F28AA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0992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87AE94-59D8-46AA-903E-BD419979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719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SEO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3D8302-6E56-4C51-AAB9-3C9E3D43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910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Sitemap, robots, meta, schema</a:t>
            </a:r>
          </a:p>
        </p:txBody>
      </p:sp>
    </p:spTree>
    <p:extLst>
      <p:ext uri="{BB962C8B-B14F-4D97-AF65-F5344CB8AC3E}">
        <p14:creationId xmlns:p14="http://schemas.microsoft.com/office/powerpoint/2010/main" val="16708771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7F920-1AA6-4265-B100-5931798D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КУРСЫ И ТЕСТЫ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2EA36-013D-4E2C-83BA-E046F54B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Контент теперь хранится как реальные данные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6C111-C558-4A2C-B183-EF427ACB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invest-gold.asia  /  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046cd731a4754"/>
          <a:stretch xmlns:a="http://schemas.openxmlformats.org/drawingml/2006/main"/>
        </p:blipFill>
        <p:spPr>
          <a:xfrm xmlns:a="http://schemas.openxmlformats.org/drawingml/2006/main">
            <a:off x="514350" y="1902619"/>
            <a:ext cx="4953000" cy="2786063"/>
          </a:xfrm>
          <a:prstGeom xmlns:a="http://schemas.openxmlformats.org/drawingml/2006/main" prst="roundRect">
            <a:avLst>
              <a:gd name="adj" fmla="val 3846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705da0b5c45c2"/>
          <a:stretch xmlns:a="http://schemas.openxmlformats.org/drawingml/2006/main"/>
        </p:blipFill>
        <p:spPr>
          <a:xfrm xmlns:a="http://schemas.openxmlformats.org/drawingml/2006/main">
            <a:off x="6705600" y="1902619"/>
            <a:ext cx="4953000" cy="2786063"/>
          </a:xfrm>
          <a:prstGeom xmlns:a="http://schemas.openxmlformats.org/drawingml/2006/main" prst="roundRect">
            <a:avLst>
              <a:gd name="adj" fmla="val 384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F60D1-9C72-433A-8157-226D80B0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Курсы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23198-7699-4965-BC06-108883FE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Структура курса, уроки, длительность и прогресс считаются backend-ом.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20486-FE6B-4230-B0FA-67BCCD2B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0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Тесты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6ACD6-6D47-4E4F-BECA-33E39249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10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Попытки, баллы, средний результат и объяснения ошибок сохраняются в базе.</a:t>
            </a:r>
          </a:p>
        </p:txBody>
      </p:sp>
    </p:spTree>
    <p:extLst>
      <p:ext uri="{BB962C8B-B14F-4D97-AF65-F5344CB8AC3E}">
        <p14:creationId xmlns:p14="http://schemas.microsoft.com/office/powerpoint/2010/main" val="749001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CD9F2-C012-4AB6-A984-83EF445B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ФУНКЦИИ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EC5A8-C73A-4DCC-ABD2-75B0AA5E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Платформа работает как учебный кабинет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C7A39-7B97-4D7E-8336-12E055E5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invest-gold.asia  /  7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210289fbe4d0c"/>
          <a:stretch xmlns:a="http://schemas.openxmlformats.org/drawingml/2006/main"/>
        </p:blipFill>
        <p:spPr>
          <a:xfrm xmlns:a="http://schemas.openxmlformats.org/drawingml/2006/main">
            <a:off x="495300" y="2103834"/>
            <a:ext cx="5219700" cy="2936081"/>
          </a:xfrm>
          <a:prstGeom xmlns:a="http://schemas.openxmlformats.org/drawingml/2006/main" prst="roundRect">
            <a:avLst>
              <a:gd name="adj" fmla="val 314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0898A-0749-4F55-8687-722DA3D0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334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F807D-4700-4324-BC08-65167EC7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Учительский кабинет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8E59A-0F04-4753-9344-8609460D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62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Создание тестов, вопросов, вариантов и публикация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06F9C-DAB0-4EDE-8C44-02DE0D9F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67000"/>
            <a:ext cx="5334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57AE4-185F-4DA3-A357-4DA7F6BE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03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Прокторинг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81E3C-00CB-4872-8513-24B85399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76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Полный экран, камера, аудио, журнал нарушений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E8427-32E4-4BE8-B581-B6D1202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334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93901-639D-4455-98E7-66E20AC6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Чат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49163-0053-4362-B990-CAA7FAD2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909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WebSocket-чат с именем и ролью пользователя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53C2C-6FF6-43EA-8711-120A62B9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95800"/>
            <a:ext cx="5334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970E2-3796-4105-B06E-BE1C2036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Админка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29D7D-5BCF-4050-98F1-DC4A113B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05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Пользователи, роли, контент и модерация</a:t>
            </a:r>
          </a:p>
        </p:txBody>
      </p:sp>
    </p:spTree>
    <p:extLst>
      <p:ext uri="{BB962C8B-B14F-4D97-AF65-F5344CB8AC3E}">
        <p14:creationId xmlns:p14="http://schemas.microsoft.com/office/powerpoint/2010/main" val="9315464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5359D6-1090-428E-A6E7-A61A2BB0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SEO И ПОИСК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E9BE6-6E83-4C12-8846-AB92265E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34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Сайт уже виден поисковикам и подготовлен к росту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0FCB4-2920-43C8-B13A-3AD4D661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invest-gold.asia  / 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2F0DE-8DCE-40B0-98DB-620D1F2D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Настроены SSR-страницы Nuxt, sitemap.xml, robots.txt, meta description, canonical URL и schema-разметка для курсов и тестов.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4AA34-4BE7-45C9-8E3D-721584A2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97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В поиске сайт уже отображается по брендовым и прямым запросам. Для топа по широкому запросу «подготовка к КТА магистратура» дальше работают контент, индексация и ссылки.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5BC3B-1402-4558-A545-39F78B34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21526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39914-0756-468B-8B27-021D5A9F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HTTPS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F37C7-062F-40A0-B533-930CE9AC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57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сертификат и домен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FC80F-1EC4-45E6-B9C6-27B733A2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1526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0E6D9-154A-465A-9CE7-20988888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38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Sitemap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612FF-FDC8-4CA3-975B-E9A2C60C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146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69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страницы курсов и тестов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79089-6685-4152-B0F9-898CCD95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21526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C188F-0DD1-4A39-ACA0-7729056F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576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Robots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300EE-56BC-4F07-9930-040934AA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338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0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открытая индексация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1B13F-FCEC-4D2E-841B-4A9ACE98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29000"/>
            <a:ext cx="21526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4319D-9FD8-473C-B9F8-2B6DD8C0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576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Schema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1A3A6B-D8A4-444B-A072-06491F11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338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9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Course, Quiz, ItemList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825C0E-74F3-44C9-834A-81513908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626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Источник структуры КТ: Национальный центр тестирования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7982972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37B74-6C0D-4784-8527-BB8D0BDE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D9B1C-45D8-450C-92EC-FEC9EE54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76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На сервере запущена полноценная MVP-платформа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E8EC2-2993-4AF9-B393-22007A3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invest-gold.asia  / 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9D353-47EF-4548-932B-75E9437B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23812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C10A9-9411-439B-93A4-63CBE9D5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9552C-9FAD-47BC-A49E-BFED2DB0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Ubuntu server, Docker Compose, Caddy HTTPS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4EFC5-EC3E-4730-9D8A-E35C0AA6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76450"/>
            <a:ext cx="23812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E5CF8-6520-4FAC-8DB6-FD1B3344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2410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 роли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7F31C-A293-4EB1-8C7A-7EDBBDA6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099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Student, Teacher, 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667D0-76A9-4999-B059-3D1C54DE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76450"/>
            <a:ext cx="23812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0BD7E-42EE-4938-A88A-11CB605E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F120C-4D52-460A-9827-9BC35958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вопросов в новых тестах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651FE-6EE7-4673-94F6-CEA64327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76450"/>
            <a:ext cx="23812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ECDAE-3600-4748-BB1B-B0B4D05C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2410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24410-CE26-4DB4-9EA8-241D97F4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099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вариантов ответа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E566D-D5EB-4817-B6DC-291EF8CA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971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4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Главное: сайт не просто выглядит как учебная платформа. Backend реально хранит курсы, уроки, тесты, попытки, прогресс, чат и прокторинг.</a:t>
            </a:r>
          </a:p>
        </p:txBody>
      </p:sp>
    </p:spTree>
    <p:extLst>
      <p:ext uri="{BB962C8B-B14F-4D97-AF65-F5344CB8AC3E}">
        <p14:creationId xmlns:p14="http://schemas.microsoft.com/office/powerpoint/2010/main" val="14850281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7A125-0FB1-494E-86AE-F20D1CB4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РОЛИ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C067C-B14B-4534-BF02-FA463BE5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У каждого пользователя свой доступ и кабинет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37D54-5435-4010-936A-CF5ACBE4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invest-gold.asia  /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E4C8B-339B-4EA0-B135-7F4AC25B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BA8A4-94B7-41E7-807E-020A2422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Гость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55708-DB34-491A-A9A6-CBF1E59D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Смотрит главную, блог, демо-тесты и может зарегистрироваться.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ED2D6-6D2D-40C3-AABC-731F980D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6E8D1-6D8F-4016-BD7F-FA46541B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Ученик / Student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1865F-1844-40BD-B901-CB138022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432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Открывает бесплатные курсы, проходит уроки и тесты, видит реальный прогресс.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CC65E-EB71-4189-8E45-396BA4AC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AE28D-3250-4943-BEB2-ADA5AEE6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Учитель / Teacher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6EC51-3CB5-4176-BFE3-8E06179A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Создает тесты, вопросы, варианты, объяснения и смотрит результаты студентов.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65054-A29E-4B97-8BC7-8FFA93C8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5143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67C2E-D78A-4ECE-BA19-F0E05CC8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291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Админ / 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30222-55CB-4D30-9D45-A63637DA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434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Управляет пользователями, назначает учителей и модерирует весь контент.</a:t>
            </a:r>
          </a:p>
        </p:txBody>
      </p:sp>
    </p:spTree>
    <p:extLst>
      <p:ext uri="{BB962C8B-B14F-4D97-AF65-F5344CB8AC3E}">
        <p14:creationId xmlns:p14="http://schemas.microsoft.com/office/powerpoint/2010/main" val="3085504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ABC0D2-52D1-415E-A5D4-99B2B47E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DOCKER + CADDY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78D0A-1358-4689-B6A6-6CC384C9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Контейнеры и HTTPS держат проект на сервере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05BAF-F305-4A66-A960-0ED03972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invest-gold.asia  /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CFD3E-3D40-4EB3-95C2-F7CB9BE4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52578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D4582-4187-4586-88C3-6D4D4C5F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Docker Compose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894E3-B795-4AE3-88F8-7380746E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Проект запущен как набор сервисов: frontend, backend, база, Redis и Caddy.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D2840-93B8-4F36-93E1-E0B865BB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0383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14B26-E1E7-4C51-A12D-6A42708F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caddy:2-alpine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E5087-AF5E-4B51-AE06-80C1E2F6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80 / 443, HTTPS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3FC5C-0582-4975-9D5F-BFB5A35B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33750"/>
            <a:ext cx="20383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DFB6B-447B-419C-A029-AFBE5543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575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frontend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95140-79C4-4223-BC7F-89677C75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33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Nuxt SSR :3000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363CC-54E1-4845-9619-126A73E9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383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C6C8B-3FC3-4C6A-8233-CCC5C7F6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00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AFD29-C2F0-4191-A578-48E1C26D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Spring API :8080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AD972-E0A7-4912-B8C9-36B21E5F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86250"/>
            <a:ext cx="20383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323FD-07A5-420E-B029-AB1665A6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100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postgres + redis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BD770C-8AF1-4A19-AC6D-446734D5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863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данные и cache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B021C9-8A7B-4C90-9266-838D9135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52578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9E180E-6FB0-414D-A1CF-6D04E3D7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Caddy HTTPS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749EB6-2AC7-425F-8275-DD33FBBB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90800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8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Caddy стоит перед сайтом как reverse proxy и сам обслуживает HTTPS-сертификат для домена.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AE01FC-B109-415F-8B3F-CF3F4F74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71850"/>
            <a:ext cx="1695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95EC1D-1FC6-4DE4-91AA-25F226AF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480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/api/*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8572500" y="35337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CD4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DA3AD6-18DC-44FF-A031-9F536827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385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backend:8080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8F5FD8-3B37-4911-ADB1-0D41D407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29050"/>
            <a:ext cx="1695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409D80-DFC8-43D3-98D2-78FD2623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/ws/*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8572500" y="39909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CD4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EA3F3-71BC-48A2-878A-31F255B3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957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backend:8080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2A0D91-F60A-4014-A02B-BA970020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1695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A5CC15-4852-4DC3-826B-EA77E724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624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/api/session/*</a:t>
            </a:r>
          </a:p>
        </p:txBody>
      </p:sp>
      <p:cxnSp>
        <p:nvCxnSpPr>
          <p:cNvPr id="71" name=""/>
          <p:cNvCxnSpPr/>
          <p:nvPr/>
        </p:nvCxnSpPr>
        <p:spPr>
          <a:xfrm xmlns:a="http://schemas.openxmlformats.org/drawingml/2006/main">
            <a:off x="8572500" y="44481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CD4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7552BC-4D81-4EA4-997A-88BBDFFC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529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frontend:3000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7A608C-F2DC-4C2D-BD55-339891A1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1695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E744CA-CECE-471D-82D3-06322211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196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site pages</a:t>
            </a:r>
          </a:p>
        </p:txBody>
      </p:sp>
      <p:cxnSp>
        <p:nvCxnSpPr>
          <p:cNvPr id="75" name=""/>
          <p:cNvCxnSpPr/>
          <p:nvPr/>
        </p:nvCxnSpPr>
        <p:spPr>
          <a:xfrm xmlns:a="http://schemas.openxmlformats.org/drawingml/2006/main">
            <a:off x="8572500" y="49053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CD4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175064-61A9-4BA0-B811-EF3FFD4F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101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frontend:3000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3B48AE-3383-40AB-AA32-8058E619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19700"/>
            <a:ext cx="4495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C02D98-F16A-4EBF-A466-35AF3973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34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proctoring-data -&gt; /app/data/proctoring</a:t>
            </a:r>
          </a:p>
        </p:txBody>
      </p:sp>
    </p:spTree>
    <p:extLst>
      <p:ext uri="{BB962C8B-B14F-4D97-AF65-F5344CB8AC3E}">
        <p14:creationId xmlns:p14="http://schemas.microsoft.com/office/powerpoint/2010/main" val="20216152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745EE4-C209-4A83-BCAB-8A3F3DC9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ПРОКТОРИНГ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CF236-F8E8-423A-A886-BA542253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203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Контроль теста записывает видео, аудио и нарушения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065B8-840E-4164-95DB-F01FE39B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invest-gold.asia  /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A608F-C222-4DD4-A8DF-437CB95D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3429000" cy="35433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EA6DB-7086-452B-90DD-DB4DC3BD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237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Студент проходит тест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57E96-D10C-4AC3-9AAD-F267FA89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Перед стартом даёт согласие на запись. Браузер включает полный экран, камеру и микрофон.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E508D-E297-4BF2-BA0D-51A51F65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1066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E6082-4484-4917-90DF-4C68C90E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43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CAM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9F9E2-3CFB-4B2A-9E86-45CF4519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43350"/>
            <a:ext cx="1066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D6D00-1C91-4654-AAB3-D59BEE92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433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MIC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907BE-1A40-43F4-96CA-D7EB7EA8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5D11B-E610-4752-B348-D83ED097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050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4991100" y="24288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CD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C9D8B-36E9-4F82-B234-78B3A34E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956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Start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E03E4-BBCA-46FF-9C2F-9DC69E35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1945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создаётся proctoring session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CA139-6860-44DB-89CB-DDF54517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D4FCD-8960-465D-A289-19DC3140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050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6667500" y="24288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CD4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B4F0D2-65AD-455F-AEF4-BA35E479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956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Events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AAAC0-6017-4EC4-986E-C07F01AD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1945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фиксируются нарушения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D7FF9-8E26-41A4-95D3-F2124405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09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5F3FEF-DDE9-4083-A158-201B809D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8343900" y="24288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CD4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8186BB-9CAC-4AAA-8C25-C6B7D2E6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956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Upload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28FCBD-F1B1-476C-AD55-809C641F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1945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запись уходит на backend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33EBAB-E849-44D2-8722-651EAAB5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09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8EC806-DB1E-4E7E-8E89-F465F872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3050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69133C-BBAF-4598-A16D-1447ADF3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956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Teacher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260F0B-5625-47AE-BA23-521BE7EE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учитель смотрит запись и журнал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2F620B-9534-4C89-A1AB-757EDFFD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238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0052A2-9CA3-4B95-B35B-BBA42FC6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76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Видео и аудио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F77446-5152-4BA7-9E48-0BF6CFFF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768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Файлы WebM/MP4 сохраняются в data/proctoring, на сервере Docker volume: proctoring-data.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F858CA-B013-4BEC-8B21-D6D9A9DC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4C11E3-B9EF-4B0E-B146-570DDF15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Журнал нарушений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CD660F-767D-4019-A0A9-450B7DCF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768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24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События хранятся в PostgreSQL: TAB_HIDDEN, WINDOW_BLUR, FULLSCREEN_EXIT, COPY/PASTE.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C3991F-9009-4261-AC54-05F6E566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626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Доступ к записям есть у учителя своего теста и у администратора.</a:t>
            </a:r>
          </a:p>
        </p:txBody>
      </p:sp>
    </p:spTree>
    <p:extLst>
      <p:ext uri="{BB962C8B-B14F-4D97-AF65-F5344CB8AC3E}">
        <p14:creationId xmlns:p14="http://schemas.microsoft.com/office/powerpoint/2010/main" val="21110658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5545DE-417A-41F3-8674-7827A9C2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ЧАТ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52FC5-D054-43BC-90AD-CC6154FF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15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Мини-чат работает в реальном времени через WebSocket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9B047-1888-431C-981D-8278ED53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invest-gold.asia  /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A4434-7F96-4C16-88AD-3D22991D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3752850" cy="422910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B3AA5-4722-4520-87F2-2C03784A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Чат справа снизу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52BC0-35F6-42FD-BAAD-E1B82662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4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Пользователь открывает круг в углу сайта. Внутри видит историю, имя, роль и статус подключения.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66448-DC39-475E-AA88-B9BF9EB7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7432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33289-DE15-4D47-AE27-BF84A814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Чат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8B0C2-61C8-4980-AA3A-FD40C662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80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Саламат · STUDENT · онлайн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A7BFB-AC02-4F54-AA8F-D9A8E1C0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1809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4ABA1-35A5-4B39-B6BD-1A7DAEBC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73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Студент: вопрос по тесту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8BEBD-4246-46F0-A7A2-CFA0437B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86300"/>
            <a:ext cx="17907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DD040-F616-45C6-B62F-92609BC8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72025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Учитель: отвечаю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7F59F-F3F3-425D-AB39-F118EEA7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76450"/>
            <a:ext cx="1295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48AD1-8DA1-422F-B542-A72B2A78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3837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Frontend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1B2FF-51E2-4B12-A33E-1C81FD4A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336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MiniChat.vue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6210300" y="24669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CD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4B4F1-7F3E-429F-844A-0F61580D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1295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66E139-2531-4A22-BD13-D565A391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3837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C93284-4E25-4875-80D0-523C77AD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/ws/chat</a:t>
            </a:r>
          </a:p>
        </p:txBody>
      </p:sp>
      <p:cxnSp>
        <p:nvCxnSpPr>
          <p:cNvPr id="62" name=""/>
          <p:cNvCxnSpPr/>
          <p:nvPr/>
        </p:nvCxnSpPr>
        <p:spPr>
          <a:xfrm xmlns:a="http://schemas.openxmlformats.org/drawingml/2006/main">
            <a:off x="7848600" y="24669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CD4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F7A8D6-618E-4221-9EED-403CE082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1295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321BAB-66F6-4CBB-AE81-83582FF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Backend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F8DC66-52E6-4547-91B7-98B3E2DA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336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Spring handler</a:t>
            </a:r>
          </a:p>
        </p:txBody>
      </p:sp>
      <p:cxnSp>
        <p:nvCxnSpPr>
          <p:cNvPr id="66" name=""/>
          <p:cNvCxnSpPr/>
          <p:nvPr/>
        </p:nvCxnSpPr>
        <p:spPr>
          <a:xfrm xmlns:a="http://schemas.openxmlformats.org/drawingml/2006/main">
            <a:off x="9486900" y="24669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CCD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2DEA53-BC5D-4998-B2E1-F0F79E76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76450"/>
            <a:ext cx="1295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99FB2-BDF2-4884-8BAA-24D00C70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3837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DB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6DF645-BABC-420D-9FF9-CEF6D42D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336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chat_messages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0A1AF3-C197-4104-98DD-78E14465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09950"/>
            <a:ext cx="29146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440C03-2CD1-4FAD-8A48-42D1646D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62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Авторизация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05BB16-3A05-47D8-8E4E-7098DA9B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481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Handshake проверяет JWT cookie или Bearer token. Без входа чат не подключается.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CF0B98-4436-4954-B748-1C2B414E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09950"/>
            <a:ext cx="29146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335F94-0BA1-4CA2-9A44-9610F437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62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История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9A512F-A1F5-4A72-B84E-7F8B7EA0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481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При подключении backend отправляет последние 80 сообщений.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5DD558-659F-4424-A17E-11D50D46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10100"/>
            <a:ext cx="29146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DD0261-4CDB-4135-9249-E25BE9EC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762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Реальное время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ACC332-6849-47BA-A689-9653C411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482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129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Новое сообщение сохраняется и сразу рассылается всем открытым WebSocket-сессиям.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2A1FBE-A7C7-42E6-8123-06C07C13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10100"/>
            <a:ext cx="29146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0AB702-9BCC-4855-AD35-30D7CF9C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62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Fallback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9FD553-8395-4D2D-967E-0C83FD9F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482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Если WebSocket недоступен, работает REST: GET/POST /api/chat/messages.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3A13E4-9D10-4534-B1CF-A4D1805A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8293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84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В базе хранится user_id, message и created_at; в интерфейсе показываются senderName, senderRole и mine.</a:t>
            </a:r>
          </a:p>
        </p:txBody>
      </p:sp>
    </p:spTree>
    <p:extLst>
      <p:ext uri="{BB962C8B-B14F-4D97-AF65-F5344CB8AC3E}">
        <p14:creationId xmlns:p14="http://schemas.microsoft.com/office/powerpoint/2010/main" val="3838207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806C1-2696-4DA6-B150-503ECD83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Проект сделал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2FCE0-986F-48F5-B321-EBE1BBE7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Саламат Торахмет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4FC45-3933-4839-BAD7-F66062C1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0F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B0F19"/>
                </a:solidFill>
                <a:latin typeface="Helvetica Neue"/>
                <a:ea typeface="Helvetica Neue"/>
                <a:cs typeface="Helvetica Neue"/>
              </a:rPr>
              <a:t>KTA Study - бесплатная подготовка к КТА в магистратуру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A625C-E1D4-476D-9315-01436095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https://invest-gold.asia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9864B-6990-4DFB-B034-04C75E49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066800"/>
            <a:ext cx="40005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C7CCD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8d2b5d5f744b3"/>
          <a:stretch xmlns:a="http://schemas.openxmlformats.org/drawingml/2006/main"/>
        </p:blipFill>
        <p:spPr>
          <a:xfrm xmlns:a="http://schemas.openxmlformats.org/drawingml/2006/main">
            <a:off x="7277100" y="2059781"/>
            <a:ext cx="3581400" cy="2014538"/>
          </a:xfrm>
          <a:prstGeom xmlns:a="http://schemas.openxmlformats.org/drawingml/2006/main" prst="roundRect">
            <a:avLst>
              <a:gd name="adj" fmla="val 31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57C10-CCD4-41ED-8DA5-DB2AD1AE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invest-gold.asia  /  14</a:t>
            </a:r>
          </a:p>
        </p:txBody>
      </p:sp>
    </p:spTree>
    <p:extLst>
      <p:ext uri="{BB962C8B-B14F-4D97-AF65-F5344CB8AC3E}">
        <p14:creationId xmlns:p14="http://schemas.microsoft.com/office/powerpoint/2010/main" val="328907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2026-07-22T06:46:03.3450000Z</dcterms:created>
  <dcterms:modified xsi:type="dcterms:W3CDTF">2026-07-22T06:46:03.3450000Z</dcterms:modified>
</coreProperties>
</file>